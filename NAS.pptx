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D1B2A"/>
                </a:solidFill>
                <a:latin typeface="Arial"/>
              </a:rPr>
              <a:t>Acuratețe Validare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Acuratețe (%)</c:v>
                </c:pt>
              </c:strCache>
            </c:strRef>
          </c:tx>
          <c:spPr>
            <a:solidFill>
              <a:srgbClr val="00C2CB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C2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35C-48FF-87DB-1C489263BF04}"/>
              </c:ext>
            </c:extLst>
          </c:dPt>
          <c:dPt>
            <c:idx val="1"/>
            <c:invertIfNegative val="0"/>
            <c:bubble3D val="0"/>
            <c:spPr>
              <a:solidFill>
                <a:srgbClr val="5BC0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5C-48FF-87DB-1C489263BF04}"/>
              </c:ext>
            </c:extLst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35C-48FF-87DB-1C489263BF0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F82B825F-8EEC-41E5-9BB1-FBFAA020A9B0}" type="VALUE">
                      <a:rPr lang="en-US" smtClean="0"/>
                      <a:pPr/>
                      <a:t>[VALUE]</a:t>
                    </a:fld>
                    <a:r>
                      <a:rPr lang="en-US"/>
                      <a:t>.40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435C-48FF-87DB-1C489263BF0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98.53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35C-48FF-87DB-1C489263BF0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HVTINY</c:v>
                </c:pt>
                <c:pt idx="1">
                  <c:v>LB-CNN</c:v>
                </c:pt>
                <c:pt idx="2">
                  <c:v>ViT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99.4</c:v>
                </c:pt>
                <c:pt idx="1">
                  <c:v>98.53</c:v>
                </c:pt>
                <c:pt idx="2">
                  <c:v>98.06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35C-48FF-87DB-1C489263BF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97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B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B2A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0D1B2A"/>
                </a:solidFill>
                <a:latin typeface="Arial"/>
              </a:rPr>
              <a:t>Acuratețe Validare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Acuratețe (%)</c:v>
                </c:pt>
              </c:strCache>
            </c:strRef>
          </c:tx>
          <c:spPr>
            <a:solidFill>
              <a:srgbClr val="00C2CB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C2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B2C-4B59-9406-50DBC0E0B6FA}"/>
              </c:ext>
            </c:extLst>
          </c:dPt>
          <c:dPt>
            <c:idx val="1"/>
            <c:invertIfNegative val="0"/>
            <c:bubble3D val="0"/>
            <c:spPr>
              <a:solidFill>
                <a:srgbClr val="5BC0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B2C-4B59-9406-50DBC0E0B6FA}"/>
              </c:ext>
            </c:extLst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B2C-4B59-9406-50DBC0E0B6FA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/>
                      <a:t>84.63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B2C-4B59-9406-50DBC0E0B6F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61.67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8B2C-4B59-9406-50DBC0E0B6F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72.34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B2C-4B59-9406-50DBC0E0B6FA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HVTINY</c:v>
                </c:pt>
                <c:pt idx="1">
                  <c:v>LB-CNN</c:v>
                </c:pt>
                <c:pt idx="2">
                  <c:v>ViT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84.63</c:v>
                </c:pt>
                <c:pt idx="1">
                  <c:v>61.67</c:v>
                </c:pt>
                <c:pt idx="2">
                  <c:v>72.34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B2C-4B59-9406-50DBC0E0B6F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B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35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48640"/>
            <a:ext cx="1828800" cy="1828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de Căutare NAS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Architecture Search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ro-RO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TANCIU</a:t>
            </a:r>
            <a:r>
              <a:rPr lang="en-US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</a:t>
            </a:r>
            <a:r>
              <a:rPr lang="ro-RO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ĂDUCU</a:t>
            </a:r>
            <a:r>
              <a:rPr lang="en-US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-Ș</a:t>
            </a:r>
            <a:r>
              <a:rPr lang="ro-RO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TEFAN</a:t>
            </a:r>
            <a:r>
              <a:rPr lang="en-US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r>
              <a:rPr lang="pt-BR" sz="14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INGINERIA INFORMA</a:t>
            </a:r>
            <a:r>
              <a:rPr lang="ro-RO" sz="14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Ț</a:t>
            </a:r>
            <a:r>
              <a:rPr lang="pt-BR" sz="14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IEI</a:t>
            </a:r>
            <a:r>
              <a:rPr lang="ro-RO" sz="14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A SISTEMELOR DE CALCUL</a:t>
            </a:r>
            <a:r>
              <a:rPr lang="en-US" sz="1300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UNSTPB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HVTINY  •  VIT  •  LB-CNN  •  OPTUNA  •  JAX  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Introducere &amp; Context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3291840"/>
          </a:xfrm>
          <a:prstGeom prst="rect">
            <a:avLst/>
          </a:prstGeom>
          <a:solidFill>
            <a:srgbClr val="E8F4F8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743200" cy="64008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9728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&amp; IoT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24231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Nevoia de a procesa datele direct la sursă, pe dispozitive cu resurse extrem de limitate.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914400"/>
            <a:ext cx="2743200" cy="3291840"/>
          </a:xfrm>
          <a:prstGeom prst="rect">
            <a:avLst/>
          </a:prstGeom>
          <a:solidFill>
            <a:srgbClr val="E8F4F8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246120" y="914400"/>
            <a:ext cx="2743200" cy="64008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097280"/>
            <a:ext cx="731520" cy="7315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8328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Provocarea TinyML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429000" y="24231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Echilibrarea strictă între acuratețe, consum de energie și memorie disponibilă (RAM &amp; FLASH).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914400"/>
            <a:ext cx="2743200" cy="3291840"/>
          </a:xfrm>
          <a:prstGeom prst="rect">
            <a:avLst/>
          </a:prstGeom>
          <a:solidFill>
            <a:srgbClr val="E8F4F8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217920" y="914400"/>
            <a:ext cx="2743200" cy="64008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09728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55080" y="19202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 NAS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0" y="24231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Automatizarea selecției hiperparametrilor — de la intuiția umană la optimizare probabilistică.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9B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Architecture Search (NAS)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731520" cy="82296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9326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Spațiul de Căutare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29844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Definește setul de arhitecturi posibile — de la lanțuri simple la structuri bazate pe celule.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731520" cy="82296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2128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Strategia de Căutare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7860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Evoluată de la R</a:t>
            </a:r>
            <a:r>
              <a:rPr lang="ro-RO" sz="12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einforcement</a:t>
            </a:r>
            <a:r>
              <a:rPr lang="ro-RO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2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/algoritmi evolutivi (black-box) la tehnici one-shot rapide precum DARTS.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474720"/>
            <a:ext cx="731520" cy="82296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347472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349300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Evaluarea Performanței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858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Tehnici proxy (cost-zero), benchmark-uri tabulare NAS-Bench-101 pentru evaluări instantanee.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 1000 de lucrări publicate în 2020–2021 | Depășește </a:t>
            </a:r>
            <a:r>
              <a:rPr lang="en-US" sz="1100" dirty="0" err="1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arhitecturile</a:t>
            </a:r>
            <a:r>
              <a:rPr lang="en-US" sz="11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concepute </a:t>
            </a:r>
            <a:r>
              <a:rPr lang="en-US" sz="11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pe ImageNet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— Optimizarea Hiperparametrilor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Flexibil în Timp Real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88720" y="1463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Construiește dinamic spațiul de căutare, compatibil cu sintaxa Python standard.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48840"/>
            <a:ext cx="640080" cy="640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 (Taiere Prematură)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88720" y="2606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Algoritmul ASHA oprește timpuriu trial-urile </a:t>
            </a:r>
            <a:r>
              <a:rPr lang="ro-RO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nu sunt promițătoare</a:t>
            </a: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accelerând semnificativ explorarea.</a:t>
            </a:r>
            <a:endParaRPr lang="en-US" sz="12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918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Algoritmi de Eșantionare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188720" y="37490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TPE și CMA-ES analizează corelațiile dintre parametri pentru căutare inteligentă.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303520" y="914400"/>
            <a:ext cx="3566160" cy="3474720"/>
          </a:xfrm>
          <a:prstGeom prst="rect">
            <a:avLst/>
          </a:prstGeom>
          <a:solidFill>
            <a:srgbClr val="0D1B2A"/>
          </a:solidFill>
          <a:ln/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5303520" y="914400"/>
            <a:ext cx="3566160" cy="54864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544068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 Optuna?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5486400" y="1723492"/>
            <a:ext cx="137160" cy="13716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5715000" y="153619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Scalabil: de la</a:t>
            </a:r>
            <a:r>
              <a:rPr lang="ro-RO" sz="120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</a:t>
            </a:r>
            <a:r>
              <a:rPr lang="en-US" sz="120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mașină la clustere distribuite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2363572"/>
            <a:ext cx="137160" cy="13716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5715000" y="217627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Suportă SQLite &amp; BD relaționale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0" y="3003652"/>
            <a:ext cx="137160" cy="13716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5715000" y="28163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Licență MIT — open source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9975" y="3543300"/>
            <a:ext cx="137160" cy="13716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5715000" y="345643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Câștiguri demonstrare pe Kaggle &amp; supercalculatoare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JAX &amp; Keras 3 — Infrastructura de Calcul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5661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114800" cy="54864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97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JAX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Google de calcul numeric înalt performant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148840"/>
            <a:ext cx="54864" cy="3200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21305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 — diferențiere automată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2660904"/>
            <a:ext cx="54864" cy="3200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264261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— compilare Just-In-Time (XLA)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3172968"/>
            <a:ext cx="54864" cy="3200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" y="3154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vmap — vectorizare automată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685032"/>
            <a:ext cx="54864" cy="3200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94360" y="366674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pmap —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paralelizare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mai multe dispozitive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754880" y="914400"/>
            <a:ext cx="4114800" cy="35661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754880" y="914400"/>
            <a:ext cx="4114800" cy="54864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51560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577840" y="1097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3.0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93776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multi-backend: JAX + TensorFlow + PyTorch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937760" y="214884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5074920" y="21305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Același cod pe 3 backend-uri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937760" y="2660904"/>
            <a:ext cx="54864" cy="3200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5074920" y="264261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keras.ops — API NumPy agnostic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937760" y="3172968"/>
            <a:ext cx="54864" cy="3200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5074920" y="3154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TFLite pentru microcontrolere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937760" y="3685032"/>
            <a:ext cx="54864" cy="32004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074920" y="366674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 tf.data, DataLoader, NumPy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Arhitectura HVTINY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TinyML convolutional pentru MCU — aplicații medicale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5720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73152" cy="7772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316736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Fără conexiuni reziduale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de 2× numărul de operații MAC, scăzând latența și consumul energetic.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176272"/>
            <a:ext cx="45720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176272"/>
            <a:ext cx="73152" cy="7772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2128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 Conv.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49631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Înlocuiesc convoluțiile standard — filtrare spațială separată de combinarea canalelor.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072384"/>
            <a:ext cx="45720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3072384"/>
            <a:ext cx="73152" cy="7772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1089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Hiperparametru 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39242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Unitate de bază pentru filtre — scalează întreaga rețea printr-o singură valoare.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968496"/>
            <a:ext cx="4572000" cy="77724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968496"/>
            <a:ext cx="73152" cy="77724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400507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de multiplicare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288536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Tuplu [1,4,2,1] dictează evoluția filtrelor în cele 4 macro-blocuri.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0" y="1188720"/>
            <a:ext cx="3291840" cy="11887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577840" y="1234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mel_skin_48 (binary)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160020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92.57% acuratețe  |  174 KB RAM  |  99.3 KB FLASH  |  Latență: 681 ms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0" y="2514600"/>
            <a:ext cx="3291840" cy="1188720"/>
          </a:xfrm>
          <a:prstGeom prst="rect">
            <a:avLst/>
          </a:prstGeom>
          <a:solidFill>
            <a:srgbClr val="009B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577840" y="2560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skin_cancer_balanced (7 clase)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77840" y="292608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98.14% acuratețe  |  Fișier .tflite: 51 KB  |  &lt; 256 KB RAM</a:t>
            </a:r>
            <a:endParaRPr lang="en-US" sz="110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840480"/>
            <a:ext cx="731520" cy="7315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766560" y="3886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pentru Edge AI în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aplicații medicale portabile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Transformer (ViT) &amp; LB-CNN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14800" cy="3657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4114800" cy="6400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87552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005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Transformer (ViT)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1148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Imaginea → patch-uri → token-uri → Multi-Head Attention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957" y="2052610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patch_size — rezoluția analizei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3732" y="2516886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239572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projection_dim — dimensiunea embedding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8957" y="3003804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40080" y="287121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num_heads — capete de atenție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479292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0080" y="33467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transformer_layers — adâncimea modelului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3732" y="3950208"/>
            <a:ext cx="109728" cy="109728"/>
          </a:xfrm>
          <a:prstGeom prst="ellipse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8221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mlp_head_units — clasificatorul final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65760" y="4206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Necesită date masive sau augmentare avansată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54880" y="868680"/>
            <a:ext cx="4114800" cy="3657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754880" y="868680"/>
            <a:ext cx="4114800" cy="64008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987552"/>
            <a:ext cx="502920" cy="5029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32120" y="1005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LB-CNN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4892040" y="1508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Binary CNN — nuclee binare (-1, +1), antrenament ELM ultra-rapid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937760" y="2041942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5120640" y="1920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Nuclee binare aleatorii —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fără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backprop</a:t>
            </a:r>
            <a:r>
              <a:rPr lang="ro-RO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agation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937760" y="2514273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5120640" y="239572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 de ieșire Adaline (ELM0)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936109" y="2926406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5120640" y="287121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Antrenament: 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utilizează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algebră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liniară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a găsi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greutățile optime </a:t>
            </a:r>
            <a:r>
              <a:rPr lang="ro-RO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intr-o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singură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epocă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937760" y="3479292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5120640" y="33467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Depth-wise conv + max-pooling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937760" y="3946289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5120640" y="38221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 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detecția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melano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ro-RO" sz="1100" dirty="0" err="1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elor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100% </a:t>
            </a:r>
            <a:r>
              <a:rPr lang="ro-RO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probleme de recunoaștere facială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4846320" y="4206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5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Sute de ori mai rapid decât metodele clasice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9BA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Implementare — Flux de Lucru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1920240" cy="22860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1005840"/>
            <a:ext cx="731520" cy="73152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Standardizare Z-score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(medie 0, varianță 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1965960"/>
            <a:ext cx="137160" cy="54864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14600" y="914400"/>
            <a:ext cx="1920240" cy="22860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08960" y="1005840"/>
            <a:ext cx="731520" cy="73152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08960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Model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28600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HVTINY / ViT / LB-CNN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Keras 3 + JAX backend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1965960"/>
            <a:ext cx="137160" cy="54864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914400"/>
            <a:ext cx="1920240" cy="22860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257800" y="1005840"/>
            <a:ext cx="731520" cy="73152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257800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754880" y="18288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cu Optuna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228600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Funcție </a:t>
            </a:r>
            <a:r>
              <a:rPr lang="en-US" sz="11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trial-uri cu pruning ASHA</a:t>
            </a:r>
            <a:r>
              <a:rPr lang="ro-RO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10 epoci per trial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</a:t>
            </a:r>
            <a:r>
              <a:rPr lang="en-US" sz="11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29400" y="1965960"/>
            <a:ext cx="137160" cy="54864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12280" y="914400"/>
            <a:ext cx="1920240" cy="2286000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406640" y="1005840"/>
            <a:ext cx="731520" cy="731520"/>
          </a:xfrm>
          <a:prstGeom prst="ellipse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06640" y="1005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903720" y="18288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Antrenare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03720" y="2286000"/>
            <a:ext cx="1737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75/100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epoci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MNIST &amp; CIFAR-10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Tehnologic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3794760"/>
            <a:ext cx="1280160" cy="5029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37947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783080" y="3794760"/>
            <a:ext cx="1280160" cy="5029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83080" y="37947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GPU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00400" y="3794760"/>
            <a:ext cx="1280160" cy="5029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00400" y="37947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3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617720" y="3794760"/>
            <a:ext cx="1280160" cy="5029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17720" y="37947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JAX/XLA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035040" y="3794760"/>
            <a:ext cx="1280160" cy="5029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035040" y="37947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52360" y="37947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 Experimentale — MNIST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trial-uri Optuna | 10 epoci/trial | 75 </a:t>
            </a:r>
            <a:r>
              <a:rPr lang="en-US" sz="1200" i="1" dirty="0" err="1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epoci</a:t>
            </a: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antrenare</a:t>
            </a: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</a:t>
            </a:r>
            <a:r>
              <a:rPr lang="en-US" sz="1200" i="1" dirty="0" err="1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Imagini</a:t>
            </a: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alb-negru cifre scrise de mână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87486438"/>
              </p:ext>
            </p:extLst>
          </p:nvPr>
        </p:nvGraphicFramePr>
        <p:xfrm>
          <a:off x="365760" y="118872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3285245"/>
              </p:ext>
            </p:extLst>
          </p:nvPr>
        </p:nvGraphicFramePr>
        <p:xfrm>
          <a:off x="5120640" y="1143000"/>
          <a:ext cx="3749040" cy="30175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HVTINY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LB-CNN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Acuratețe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100" b="1" dirty="0">
                        <a:solidFill>
                          <a:srgbClr val="00B05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Timp căutare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</a:t>
                      </a:r>
                      <a:endParaRPr lang="en-US" sz="1100" b="1" dirty="0">
                        <a:solidFill>
                          <a:srgbClr val="00B05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Timp antrenare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</a:t>
                      </a:r>
                      <a:endParaRPr lang="en-US" sz="1100" b="1" dirty="0">
                        <a:solidFill>
                          <a:srgbClr val="00B05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Parametri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13,010</a:t>
                      </a:r>
                      <a:endParaRPr lang="en-US" sz="1100" b="1" dirty="0">
                        <a:solidFill>
                          <a:srgbClr val="00B05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50.82</a:t>
                      </a:r>
                      <a:endParaRPr lang="en-US" sz="1100" b="1" dirty="0">
                        <a:solidFill>
                          <a:srgbClr val="00B05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Toate modelele &gt; 98% acuratețe. 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Rezultate Experimentale — CIFAR-10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trial-uri Optuna | 10 epoci/trial | 100 </a:t>
            </a:r>
            <a:r>
              <a:rPr lang="en-US" sz="1200" i="1" dirty="0" err="1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epoci</a:t>
            </a: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antrenare</a:t>
            </a: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200" i="1" dirty="0" err="1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Imagini</a:t>
            </a:r>
            <a:r>
              <a:rPr lang="en-US" sz="1200" i="1" dirty="0">
                <a:solidFill>
                  <a:srgbClr val="8CA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color 32×32 — 10 clase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97019753"/>
              </p:ext>
            </p:extLst>
          </p:nvPr>
        </p:nvGraphicFramePr>
        <p:xfrm>
          <a:off x="365760" y="118872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143000"/>
          <a:ext cx="3749040" cy="30175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HVTINY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LB-CNN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Acuratețe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7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Timp căutare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7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Timp antrenare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Parametri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7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54,350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93,754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151,882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77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593.29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HVTINY </a:t>
            </a:r>
            <a:r>
              <a:rPr lang="en-US" sz="1200" b="1" dirty="0" err="1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</a:t>
            </a:r>
            <a:r>
              <a:rPr lang="ro-RO" sz="1200" b="1" dirty="0" err="1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ță</a:t>
            </a:r>
            <a:r>
              <a:rPr lang="ro-RO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maximă, resurse minime. Avans de</a:t>
            </a: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+12pp față de ViT, +23pp față de LB-CNN</a:t>
            </a:r>
            <a:r>
              <a:rPr lang="ro-RO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Comparație Generală între Modele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560320" cy="4114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26080" y="914400"/>
            <a:ext cx="2286000" cy="4114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92608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HVTINY 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03520" y="914400"/>
            <a:ext cx="1737360" cy="4114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303520" y="914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LB-CNN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914400"/>
            <a:ext cx="1737360" cy="41148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0" y="914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8595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14173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Acuratețe (MNIST)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1417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1417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98.53%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0" y="1417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98.06%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1883664"/>
            <a:ext cx="8595360" cy="45720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192938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Acuratețe (CIFAR-10)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26080" y="192938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84.63%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61.67%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72.34%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2395728"/>
            <a:ext cx="8595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24414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Timp Căutare CIFAR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26080" y="244144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min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03520" y="24414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32320" y="24414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2907792"/>
            <a:ext cx="8595360" cy="45720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65760" y="29535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 (CIFAR)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926080" y="295351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03520" y="295351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32320" y="295351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3419856"/>
            <a:ext cx="8595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34655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Memorie (CIFAR)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926080" y="346557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 KB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03520" y="346557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366 KB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132320" y="346557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593 KB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74320" y="3931920"/>
            <a:ext cx="8595360" cy="457200"/>
          </a:xfrm>
          <a:prstGeom prst="rect">
            <a:avLst/>
          </a:prstGeom>
          <a:solidFill>
            <a:srgbClr val="E8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65760" y="39776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Viteză Antrenare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9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03520" y="39776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Foarte Rapidă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132320" y="39776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Lentă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65760" y="4480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C2C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Concluzii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896112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HVTINY este </a:t>
            </a:r>
            <a:r>
              <a:rPr lang="en-US" sz="13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</a:t>
            </a: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 mai bună</a:t>
            </a: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99.40% MNIST, 84.63% CIFAR-10, cel </a:t>
            </a:r>
            <a:r>
              <a:rPr lang="en-US" sz="13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</a:t>
            </a: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număr de parametri.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4208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" y="16459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LB-CNN excelează </a:t>
            </a:r>
            <a:r>
              <a:rPr lang="en-US" sz="13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</a:t>
            </a: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viteză</a:t>
            </a: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dar acuratețea scade pe date color complexe.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14016"/>
            <a:ext cx="365760" cy="365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395728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 necesită resurse masive și date abundente — dezavantajos pentru TinyML cu imagini mici.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63824"/>
            <a:ext cx="365760" cy="3657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60120" y="3145536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+ Optuna automatizează proiectarea și descoperă arhitecturi competitive chiar cu resurse limitate.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365760" cy="36576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60120" y="3895344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Eliminarea conexiunilor reziduale și convoluțiile depth-wise separable sunt cheia eficienței HVTINY.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365760" y="4572000"/>
            <a:ext cx="8412480" cy="347472"/>
          </a:xfrm>
          <a:prstGeom prst="rect">
            <a:avLst/>
          </a:prstGeom>
          <a:solidFill>
            <a:srgbClr val="1A2E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8"/>
          <p:cNvSpPr/>
          <p:nvPr/>
        </p:nvSpPr>
        <p:spPr>
          <a:xfrm>
            <a:off x="457200" y="459028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Direcții viitoare: extindere NAS + HPO simultan | AutoDL complet | Recunoaștere vocală &amp; NLP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985</Words>
  <Application>Microsoft Office PowerPoint</Application>
  <PresentationFormat>On-screen Show (16:9)</PresentationFormat>
  <Paragraphs>213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Tehnici de Căutare NAS</dc:title>
  <dc:subject>PptxGenJS Presentation</dc:subject>
  <dc:creator>PptxGenJS</dc:creator>
  <cp:lastModifiedBy>Răducu-Ștefan STANCIU (126851)</cp:lastModifiedBy>
  <cp:revision>5</cp:revision>
  <dcterms:created xsi:type="dcterms:W3CDTF">2026-05-23T21:10:55Z</dcterms:created>
  <dcterms:modified xsi:type="dcterms:W3CDTF">2026-05-24T21:54:00Z</dcterms:modified>
</cp:coreProperties>
</file>